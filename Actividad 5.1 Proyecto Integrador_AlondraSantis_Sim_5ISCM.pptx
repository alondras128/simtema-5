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1" r:id="rId6"/>
    <p:sldId id="262" r:id="rId7"/>
    <p:sldId id="264" r:id="rId8"/>
    <p:sldId id="265" r:id="rId9"/>
    <p:sldId id="266" r:id="rId10"/>
    <p:sldId id="260" r:id="rId11"/>
    <p:sldId id="279" r:id="rId12"/>
    <p:sldId id="280" r:id="rId13"/>
    <p:sldId id="281" r:id="rId14"/>
    <p:sldId id="277" r:id="rId15"/>
    <p:sldId id="267" r:id="rId16"/>
    <p:sldId id="282" r:id="rId17"/>
    <p:sldId id="283" r:id="rId18"/>
    <p:sldId id="289" r:id="rId19"/>
    <p:sldId id="268" r:id="rId20"/>
    <p:sldId id="285" r:id="rId21"/>
    <p:sldId id="263" r:id="rId22"/>
    <p:sldId id="286" r:id="rId23"/>
    <p:sldId id="288" r:id="rId24"/>
    <p:sldId id="269" r:id="rId25"/>
    <p:sldId id="287" r:id="rId26"/>
    <p:sldId id="270" r:id="rId27"/>
    <p:sldId id="272" r:id="rId28"/>
    <p:sldId id="273" r:id="rId29"/>
    <p:sldId id="274" r:id="rId30"/>
    <p:sldId id="275" r:id="rId31"/>
    <p:sldId id="290" r:id="rId3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onicasantizovalle@gmail.com" initials="m" lastIdx="1" clrIdx="0">
    <p:extLst>
      <p:ext uri="{19B8F6BF-5375-455C-9EA6-DF929625EA0E}">
        <p15:presenceInfo xmlns:p15="http://schemas.microsoft.com/office/powerpoint/2012/main" userId="df3a76f942d56e4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811" autoAdjust="0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87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nicasantizovalle@gmail.com" userId="df3a76f942d56e4c" providerId="LiveId" clId="{C993C4F6-CF92-45D6-B9D3-BE3CD666DC0A}"/>
    <pc:docChg chg="undo custSel addSld modSld">
      <pc:chgData name="monicasantizovalle@gmail.com" userId="df3a76f942d56e4c" providerId="LiveId" clId="{C993C4F6-CF92-45D6-B9D3-BE3CD666DC0A}" dt="2026-10-03T07:00:45.449" v="284" actId="20577"/>
      <pc:docMkLst>
        <pc:docMk/>
      </pc:docMkLst>
      <pc:sldChg chg="addSp delSp modSp mod">
        <pc:chgData name="monicasantizovalle@gmail.com" userId="df3a76f942d56e4c" providerId="LiveId" clId="{C993C4F6-CF92-45D6-B9D3-BE3CD666DC0A}" dt="2026-10-03T06:33:35.877" v="248" actId="21"/>
        <pc:sldMkLst>
          <pc:docMk/>
          <pc:sldMk cId="0" sldId="256"/>
        </pc:sldMkLst>
        <pc:spChg chg="add del mod">
          <ac:chgData name="monicasantizovalle@gmail.com" userId="df3a76f942d56e4c" providerId="LiveId" clId="{C993C4F6-CF92-45D6-B9D3-BE3CD666DC0A}" dt="2026-10-03T06:33:35.877" v="248" actId="21"/>
          <ac:spMkLst>
            <pc:docMk/>
            <pc:sldMk cId="0" sldId="256"/>
            <ac:spMk id="2" creationId="{00000000-0000-0000-0000-000000000000}"/>
          </ac:spMkLst>
        </pc:spChg>
      </pc:sldChg>
      <pc:sldChg chg="delSp modSp mod">
        <pc:chgData name="monicasantizovalle@gmail.com" userId="df3a76f942d56e4c" providerId="LiveId" clId="{C993C4F6-CF92-45D6-B9D3-BE3CD666DC0A}" dt="2026-10-03T06:41:21.665" v="265" actId="20577"/>
        <pc:sldMkLst>
          <pc:docMk/>
          <pc:sldMk cId="0" sldId="274"/>
        </pc:sldMkLst>
        <pc:spChg chg="mod">
          <ac:chgData name="monicasantizovalle@gmail.com" userId="df3a76f942d56e4c" providerId="LiveId" clId="{C993C4F6-CF92-45D6-B9D3-BE3CD666DC0A}" dt="2026-10-03T05:54:32.394" v="1" actId="207"/>
          <ac:spMkLst>
            <pc:docMk/>
            <pc:sldMk cId="0" sldId="274"/>
            <ac:spMk id="2" creationId="{00000000-0000-0000-0000-000000000000}"/>
          </ac:spMkLst>
        </pc:spChg>
        <pc:spChg chg="del">
          <ac:chgData name="monicasantizovalle@gmail.com" userId="df3a76f942d56e4c" providerId="LiveId" clId="{C993C4F6-CF92-45D6-B9D3-BE3CD666DC0A}" dt="2026-10-03T05:54:26.988" v="0" actId="21"/>
          <ac:spMkLst>
            <pc:docMk/>
            <pc:sldMk cId="0" sldId="274"/>
            <ac:spMk id="3" creationId="{00000000-0000-0000-0000-000000000000}"/>
          </ac:spMkLst>
        </pc:spChg>
        <pc:spChg chg="mod">
          <ac:chgData name="monicasantizovalle@gmail.com" userId="df3a76f942d56e4c" providerId="LiveId" clId="{C993C4F6-CF92-45D6-B9D3-BE3CD666DC0A}" dt="2026-10-03T06:41:15.806" v="262" actId="313"/>
          <ac:spMkLst>
            <pc:docMk/>
            <pc:sldMk cId="0" sldId="274"/>
            <ac:spMk id="9" creationId="{00000000-0000-0000-0000-000000000000}"/>
          </ac:spMkLst>
        </pc:spChg>
        <pc:spChg chg="mod">
          <ac:chgData name="monicasantizovalle@gmail.com" userId="df3a76f942d56e4c" providerId="LiveId" clId="{C993C4F6-CF92-45D6-B9D3-BE3CD666DC0A}" dt="2026-10-03T06:41:21.665" v="265" actId="20577"/>
          <ac:spMkLst>
            <pc:docMk/>
            <pc:sldMk cId="0" sldId="274"/>
            <ac:spMk id="12" creationId="{00000000-0000-0000-0000-000000000000}"/>
          </ac:spMkLst>
        </pc:spChg>
      </pc:sldChg>
      <pc:sldChg chg="modSp mod">
        <pc:chgData name="monicasantizovalle@gmail.com" userId="df3a76f942d56e4c" providerId="LiveId" clId="{C993C4F6-CF92-45D6-B9D3-BE3CD666DC0A}" dt="2026-10-03T06:33:05.652" v="245" actId="313"/>
        <pc:sldMkLst>
          <pc:docMk/>
          <pc:sldMk cId="0" sldId="275"/>
        </pc:sldMkLst>
        <pc:spChg chg="mod">
          <ac:chgData name="monicasantizovalle@gmail.com" userId="df3a76f942d56e4c" providerId="LiveId" clId="{C993C4F6-CF92-45D6-B9D3-BE3CD666DC0A}" dt="2026-10-03T06:33:05.652" v="245" actId="313"/>
          <ac:spMkLst>
            <pc:docMk/>
            <pc:sldMk cId="0" sldId="275"/>
            <ac:spMk id="2" creationId="{00000000-0000-0000-0000-000000000000}"/>
          </ac:spMkLst>
        </pc:spChg>
      </pc:sldChg>
      <pc:sldChg chg="addSp modSp mod">
        <pc:chgData name="monicasantizovalle@gmail.com" userId="df3a76f942d56e4c" providerId="LiveId" clId="{C993C4F6-CF92-45D6-B9D3-BE3CD666DC0A}" dt="2026-10-03T06:05:12.618" v="40" actId="20577"/>
        <pc:sldMkLst>
          <pc:docMk/>
          <pc:sldMk cId="3226887752" sldId="286"/>
        </pc:sldMkLst>
        <pc:spChg chg="mod">
          <ac:chgData name="monicasantizovalle@gmail.com" userId="df3a76f942d56e4c" providerId="LiveId" clId="{C993C4F6-CF92-45D6-B9D3-BE3CD666DC0A}" dt="2026-10-03T06:05:12.618" v="40" actId="20577"/>
          <ac:spMkLst>
            <pc:docMk/>
            <pc:sldMk cId="3226887752" sldId="286"/>
            <ac:spMk id="7" creationId="{83B3696F-9D03-4F0A-9DE2-EEEE1C016424}"/>
          </ac:spMkLst>
        </pc:spChg>
        <pc:picChg chg="mod">
          <ac:chgData name="monicasantizovalle@gmail.com" userId="df3a76f942d56e4c" providerId="LiveId" clId="{C993C4F6-CF92-45D6-B9D3-BE3CD666DC0A}" dt="2026-10-03T06:04:58.514" v="22" actId="14100"/>
          <ac:picMkLst>
            <pc:docMk/>
            <pc:sldMk cId="3226887752" sldId="286"/>
            <ac:picMk id="3" creationId="{5CFD7405-CD2B-4135-AF7C-1F734E06B41A}"/>
          </ac:picMkLst>
        </pc:picChg>
        <pc:picChg chg="mod">
          <ac:chgData name="monicasantizovalle@gmail.com" userId="df3a76f942d56e4c" providerId="LiveId" clId="{C993C4F6-CF92-45D6-B9D3-BE3CD666DC0A}" dt="2026-10-03T06:04:55.553" v="21" actId="1076"/>
          <ac:picMkLst>
            <pc:docMk/>
            <pc:sldMk cId="3226887752" sldId="286"/>
            <ac:picMk id="5" creationId="{71A9975C-FAB0-42D3-A4C8-F894D7FD52B4}"/>
          </ac:picMkLst>
        </pc:picChg>
        <pc:picChg chg="add mod">
          <ac:chgData name="monicasantizovalle@gmail.com" userId="df3a76f942d56e4c" providerId="LiveId" clId="{C993C4F6-CF92-45D6-B9D3-BE3CD666DC0A}" dt="2026-10-03T06:04:43.996" v="17" actId="1076"/>
          <ac:picMkLst>
            <pc:docMk/>
            <pc:sldMk cId="3226887752" sldId="286"/>
            <ac:picMk id="9" creationId="{B569E19A-F81A-497F-AFDC-48FE1B864908}"/>
          </ac:picMkLst>
        </pc:picChg>
      </pc:sldChg>
      <pc:sldChg chg="addSp modSp new mod">
        <pc:chgData name="monicasantizovalle@gmail.com" userId="df3a76f942d56e4c" providerId="LiveId" clId="{C993C4F6-CF92-45D6-B9D3-BE3CD666DC0A}" dt="2026-10-03T06:31:09.583" v="239" actId="313"/>
        <pc:sldMkLst>
          <pc:docMk/>
          <pc:sldMk cId="1725297686" sldId="289"/>
        </pc:sldMkLst>
        <pc:spChg chg="add mod">
          <ac:chgData name="monicasantizovalle@gmail.com" userId="df3a76f942d56e4c" providerId="LiveId" clId="{C993C4F6-CF92-45D6-B9D3-BE3CD666DC0A}" dt="2026-10-03T06:31:09.583" v="239" actId="313"/>
          <ac:spMkLst>
            <pc:docMk/>
            <pc:sldMk cId="1725297686" sldId="289"/>
            <ac:spMk id="6" creationId="{46C31DFD-4E57-4B0A-9C65-752B0DA7171A}"/>
          </ac:spMkLst>
        </pc:spChg>
        <pc:picChg chg="add mod">
          <ac:chgData name="monicasantizovalle@gmail.com" userId="df3a76f942d56e4c" providerId="LiveId" clId="{C993C4F6-CF92-45D6-B9D3-BE3CD666DC0A}" dt="2026-10-03T06:29:49.589" v="60" actId="14100"/>
          <ac:picMkLst>
            <pc:docMk/>
            <pc:sldMk cId="1725297686" sldId="289"/>
            <ac:picMk id="3" creationId="{9FF82755-F304-4A4C-864A-0612DD1407B0}"/>
          </ac:picMkLst>
        </pc:picChg>
        <pc:picChg chg="add mod">
          <ac:chgData name="monicasantizovalle@gmail.com" userId="df3a76f942d56e4c" providerId="LiveId" clId="{C993C4F6-CF92-45D6-B9D3-BE3CD666DC0A}" dt="2026-10-03T06:29:54.802" v="63" actId="1076"/>
          <ac:picMkLst>
            <pc:docMk/>
            <pc:sldMk cId="1725297686" sldId="289"/>
            <ac:picMk id="5" creationId="{E8F5427A-8E8A-4714-8ADF-754C9F5012F2}"/>
          </ac:picMkLst>
        </pc:picChg>
      </pc:sldChg>
      <pc:sldChg chg="addSp modSp new mod">
        <pc:chgData name="monicasantizovalle@gmail.com" userId="df3a76f942d56e4c" providerId="LiveId" clId="{C993C4F6-CF92-45D6-B9D3-BE3CD666DC0A}" dt="2026-10-03T07:00:45.449" v="284" actId="20577"/>
        <pc:sldMkLst>
          <pc:docMk/>
          <pc:sldMk cId="3139880323" sldId="290"/>
        </pc:sldMkLst>
        <pc:spChg chg="add mod">
          <ac:chgData name="monicasantizovalle@gmail.com" userId="df3a76f942d56e4c" providerId="LiveId" clId="{C993C4F6-CF92-45D6-B9D3-BE3CD666DC0A}" dt="2026-10-03T06:42:09.596" v="276" actId="20577"/>
          <ac:spMkLst>
            <pc:docMk/>
            <pc:sldMk cId="3139880323" sldId="290"/>
            <ac:spMk id="2" creationId="{33D1702A-6CBA-4BA9-9281-A127A32FF887}"/>
          </ac:spMkLst>
        </pc:spChg>
        <pc:spChg chg="add mod">
          <ac:chgData name="monicasantizovalle@gmail.com" userId="df3a76f942d56e4c" providerId="LiveId" clId="{C993C4F6-CF92-45D6-B9D3-BE3CD666DC0A}" dt="2026-10-03T07:00:45.449" v="284" actId="20577"/>
          <ac:spMkLst>
            <pc:docMk/>
            <pc:sldMk cId="3139880323" sldId="290"/>
            <ac:spMk id="3" creationId="{3E462DE6-4A2D-4130-924F-941D9236149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57665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londraS128/SimTema-5.git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21515"/>
            <a:ext cx="9144000" cy="109728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20040"/>
            <a:ext cx="6400800" cy="1005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TECNOLÓGICO NACIONAL DE MÉXICO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17373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Arial" pitchFamily="34" charset="0"/>
                <a:cs typeface="Arial" pitchFamily="34" charset="-120"/>
              </a:rPr>
              <a:t>INSTITUTO TECNOLOGICO DE FRONTERA COMALAPA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2199938" y="1920240"/>
            <a:ext cx="4744123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/>
              <a:t>SIMULACION</a:t>
            </a:r>
          </a:p>
        </p:txBody>
      </p:sp>
      <p:sp>
        <p:nvSpPr>
          <p:cNvPr id="7" name="Text 4"/>
          <p:cNvSpPr/>
          <p:nvPr/>
        </p:nvSpPr>
        <p:spPr>
          <a:xfrm>
            <a:off x="575534" y="23545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/>
              <a:t>PROYECTO INTEGRADOR</a:t>
            </a:r>
          </a:p>
        </p:txBody>
      </p:sp>
      <p:sp>
        <p:nvSpPr>
          <p:cNvPr id="8" name="Text 5"/>
          <p:cNvSpPr/>
          <p:nvPr/>
        </p:nvSpPr>
        <p:spPr>
          <a:xfrm>
            <a:off x="1602889" y="2760345"/>
            <a:ext cx="6271709" cy="3771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ea typeface="Arial" pitchFamily="34" charset="-122"/>
                <a:cs typeface="Arial" pitchFamily="34" charset="-120"/>
              </a:rPr>
              <a:t>ALUMNA:ALONDRA YUDIVIA SANTIS OVALLE  </a:t>
            </a:r>
          </a:p>
        </p:txBody>
      </p:sp>
      <p:sp>
        <p:nvSpPr>
          <p:cNvPr id="9" name="Text 6"/>
          <p:cNvSpPr/>
          <p:nvPr/>
        </p:nvSpPr>
        <p:spPr>
          <a:xfrm>
            <a:off x="575534" y="34518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ea typeface="Arial" pitchFamily="34" charset="-122"/>
                <a:cs typeface="Arial" pitchFamily="34" charset="-120"/>
              </a:rPr>
              <a:t>DOCENTE: ING. FRANCISCO JAVIER  VELAZQUEZ MINGO 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04 de octubre de 2026</a:t>
            </a:r>
            <a:endParaRPr lang="en-US" sz="1300" b="1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946DA1A-DF4B-44DD-8E7E-954C767A53DC}"/>
              </a:ext>
            </a:extLst>
          </p:cNvPr>
          <p:cNvSpPr txBox="1"/>
          <p:nvPr/>
        </p:nvSpPr>
        <p:spPr>
          <a:xfrm>
            <a:off x="2285999" y="3108960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400" b="1" dirty="0">
                <a:ea typeface="Arial" pitchFamily="34" charset="-122"/>
                <a:cs typeface="Arial" pitchFamily="34" charset="-120"/>
              </a:rPr>
              <a:t>N° CONTROL:241260104</a:t>
            </a:r>
            <a:endParaRPr lang="en-US" sz="14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Índice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371600" y="914400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latin typeface="Arial" pitchFamily="34" charset="0"/>
                <a:ea typeface="Arial" pitchFamily="34" charset="-122"/>
                <a:cs typeface="Arial" pitchFamily="34" charset="-120"/>
              </a:rPr>
              <a:t>1. Introducción y objetivo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371600" y="1255955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latin typeface="Arial" pitchFamily="34" charset="0"/>
                <a:ea typeface="Arial" pitchFamily="34" charset="-122"/>
                <a:cs typeface="Arial" pitchFamily="34" charset="-120"/>
              </a:rPr>
              <a:t>2. Manual Técnico – Bizagi Modeler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latin typeface="Arial" pitchFamily="34" charset="0"/>
                <a:ea typeface="Arial" pitchFamily="34" charset="-122"/>
                <a:cs typeface="Arial" pitchFamily="34" charset="-120"/>
              </a:rPr>
              <a:t>3. Manual Técnico – Camunda Modeler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1874520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latin typeface="Arial" pitchFamily="34" charset="0"/>
                <a:ea typeface="Arial" pitchFamily="34" charset="-122"/>
                <a:cs typeface="Arial" pitchFamily="34" charset="-120"/>
              </a:rPr>
              <a:t>4. Manual Técnico – Bonita Studio + JavaFX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94560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latin typeface="Arial" pitchFamily="34" charset="0"/>
                <a:ea typeface="Arial" pitchFamily="34" charset="-122"/>
                <a:cs typeface="Arial" pitchFamily="34" charset="-120"/>
              </a:rPr>
              <a:t>5. Arquitectura de integración JavaFX ↔ Bonita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2514600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latin typeface="Arial" pitchFamily="34" charset="0"/>
                <a:ea typeface="Arial" pitchFamily="34" charset="-122"/>
                <a:cs typeface="Arial" pitchFamily="34" charset="-120"/>
              </a:rPr>
              <a:t>6. Manual de Usuario – Cómo usar cada herramienta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71600" y="2834640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latin typeface="Arial" pitchFamily="34" charset="0"/>
                <a:ea typeface="Arial" pitchFamily="34" charset="-122"/>
                <a:cs typeface="Arial" pitchFamily="34" charset="-120"/>
              </a:rPr>
              <a:t>7. Flujo completo de la aplicación JavaFX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3154680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latin typeface="Arial" pitchFamily="34" charset="0"/>
                <a:ea typeface="Arial" pitchFamily="34" charset="-122"/>
                <a:cs typeface="Arial" pitchFamily="34" charset="-120"/>
              </a:rPr>
              <a:t>8. Cuadro comparativo técnico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3474720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latin typeface="Arial" pitchFamily="34" charset="0"/>
                <a:ea typeface="Arial" pitchFamily="34" charset="-122"/>
                <a:cs typeface="Arial" pitchFamily="34" charset="-120"/>
              </a:rPr>
              <a:t>9. Cuadro comparativo de uso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71600" y="3794760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latin typeface="Arial" pitchFamily="34" charset="0"/>
                <a:ea typeface="Arial" pitchFamily="34" charset="-122"/>
                <a:cs typeface="Arial" pitchFamily="34" charset="-120"/>
              </a:rPr>
              <a:t>10. Conclusiones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71600" y="4114800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r>
              <a:rPr lang="en-US" sz="1500" dirty="0">
                <a:latin typeface="Arial" pitchFamily="34" charset="0"/>
                <a:ea typeface="Arial" pitchFamily="34" charset="-122"/>
                <a:cs typeface="Arial" pitchFamily="34" charset="-120"/>
              </a:rPr>
              <a:t>1. Referencias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0" y="475488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1. Introducción y Objetivo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s-MX" sz="1400" dirty="0">
                <a:latin typeface="Arial" pitchFamily="34" charset="0"/>
                <a:ea typeface="Arial" pitchFamily="34" charset="-122"/>
                <a:cs typeface="Arial" pitchFamily="34" charset="-120"/>
              </a:rPr>
              <a:t>Este documento integra el Manual Técnico y el Manual de Usuario del proceso </a:t>
            </a:r>
            <a:r>
              <a:rPr lang="es-MX" sz="14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ProcesMuebles</a:t>
            </a:r>
            <a:r>
              <a:rPr lang="es-MX" sz="1400" dirty="0"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</a:p>
          <a:p>
            <a:pPr marL="0" indent="0" algn="just">
              <a:buNone/>
            </a:pPr>
            <a:r>
              <a:rPr lang="es-MX" sz="1400" dirty="0">
                <a:latin typeface="Arial" pitchFamily="34" charset="0"/>
                <a:ea typeface="Arial" pitchFamily="34" charset="-122"/>
                <a:cs typeface="Arial" pitchFamily="34" charset="-120"/>
              </a:rPr>
              <a:t>El proceso se modeló con la misma estructura en tres herramientas y se conectó a una aplicación de escritorio </a:t>
            </a:r>
            <a:r>
              <a:rPr lang="es-MX" sz="14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JavaFX</a:t>
            </a:r>
            <a:r>
              <a:rPr lang="es-MX" sz="1400" dirty="0">
                <a:latin typeface="Arial" pitchFamily="34" charset="0"/>
                <a:ea typeface="Arial" pitchFamily="34" charset="-122"/>
                <a:cs typeface="Arial" pitchFamily="34" charset="-120"/>
              </a:rPr>
              <a:t> que controla su ejecución en tiempo real.</a:t>
            </a:r>
            <a:endParaRPr lang="es-MX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94175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Estructura del proceso (5 lanes)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Arial" pitchFamily="34" charset="0"/>
                <a:ea typeface="Arial" pitchFamily="34" charset="-122"/>
                <a:cs typeface="Arial" pitchFamily="34" charset="-120"/>
              </a:rPr>
              <a:t>•  Diseño → Diseñar producto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Arial" pitchFamily="34" charset="0"/>
                <a:ea typeface="Arial" pitchFamily="34" charset="-122"/>
                <a:cs typeface="Arial" pitchFamily="34" charset="-120"/>
              </a:rPr>
              <a:t>•  Producción → Corte · Ensamblaje · Lijado · Tapizado · Barnizado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926080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Arial" pitchFamily="34" charset="0"/>
                <a:ea typeface="Arial" pitchFamily="34" charset="-122"/>
                <a:cs typeface="Arial" pitchFamily="34" charset="-120"/>
              </a:rPr>
              <a:t>•  Control de calidad → Inspección · Compuerta XOR · Retrabajo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3246120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r>
              <a:rPr lang="en-US" sz="1300" dirty="0">
                <a:latin typeface="Arial" pitchFamily="34" charset="0"/>
                <a:ea typeface="Arial" pitchFamily="34" charset="-122"/>
                <a:cs typeface="Arial" pitchFamily="34" charset="-120"/>
              </a:rPr>
              <a:t>Ventas → Gestión de pedidos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549614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Arial" pitchFamily="34" charset="0"/>
                <a:ea typeface="Arial" pitchFamily="34" charset="-122"/>
                <a:cs typeface="Arial" pitchFamily="34" charset="-120"/>
              </a:rPr>
              <a:t>•  Logística → Empaque y almacén · Distribución y entrega · Fin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0" y="475488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2. Manual Técnico – Bizagi Modeler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Elementos del proceso y responsables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Diseñar producto  →  Diseñador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92024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  →  Operario de corte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24028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Ensamblaje  →  Operario de ensamblaje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56032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Lijado  →  Operario de lijado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16002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Tapizado  →  Operario de tapizado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46320" y="1941755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Barnizado  →  Operario de barnizado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224028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Inspección  →  Inspector de calidad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0" y="475488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7085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3. Manual Técnico – Camunda Modeler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Configuración realizada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Se agregaron todos los componentes del diagrama BPMN (mismas lanes, tareas, compuerta exclusiva y flujo de retrabajo).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Se instaló y activó el plugin de Token Simulation.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El Token Simulation permite avanzar el token manualmente por cada actividad.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 En la compuerta exclusiva se elige la salida Sí o No y se observa el camino tomado (ruta de cumplimiento o bucle de retrabajo).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229600" y="475488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4. Manual Técnico – Bonita Studio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Configuración realizada en el diagrama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Arial" pitchFamily="34" charset="0"/>
                <a:ea typeface="Arial" pitchFamily="34" charset="-122"/>
                <a:cs typeface="Arial" pitchFamily="34" charset="-120"/>
              </a:rPr>
              <a:t>1.  Se agregaron los componentes del diagrama (pool ProcesMuebles, 5 lanes, tareas, compuerta y retrabajo).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En la tarea Inspección se configuró el formulario y el contrato resultadoInspeccion (Boolean).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5146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Arial" pitchFamily="34" charset="0"/>
                <a:ea typeface="Arial" pitchFamily="34" charset="-122"/>
                <a:cs typeface="Arial" pitchFamily="34" charset="-120"/>
              </a:rPr>
              <a:t>3.  Se configuraron las salidas de la compuerta XOR: Sí (condicionCumple) y No (condicionNoCumple, flujo por defecto).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Arial" pitchFamily="34" charset="0"/>
                <a:ea typeface="Arial" pitchFamily="34" charset="-122"/>
                <a:cs typeface="Arial" pitchFamily="34" charset="-120"/>
              </a:rPr>
              <a:t>4.  Se asignó un actor a cada tarea. Actores: Diseñador (iniciador), Ejecutivo de ventas, Encargado de </a:t>
            </a:r>
            <a:r>
              <a:rPr lang="en-US" sz="1300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distribución</a:t>
            </a:r>
            <a:r>
              <a:rPr lang="en-US" sz="1300" dirty="0"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Arial" pitchFamily="34" charset="0"/>
                <a:ea typeface="Arial" pitchFamily="34" charset="-122"/>
                <a:cs typeface="Arial" pitchFamily="34" charset="-120"/>
              </a:rPr>
              <a:t>5.  Usuario Walter Bates mapeado para poder ejecutar las tareas en pruebas.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0" y="475488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5. Arquitectura de integración JavaFX ↔ Bonita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piezas conectadas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0F5F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3716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Bonita Runtime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y ejecuta el proceso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(localhost:8080/bonita)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91840" y="128016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0F5FA"/>
          </a:solidFill>
          <a:ln/>
        </p:spPr>
      </p:sp>
      <p:sp>
        <p:nvSpPr>
          <p:cNvPr id="9" name="Text 7"/>
          <p:cNvSpPr/>
          <p:nvPr/>
        </p:nvSpPr>
        <p:spPr>
          <a:xfrm>
            <a:off x="3383280" y="13716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IntelliJ + JavaFX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383280" y="17830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Interfaz de escritorio que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sustituye al portal de Bonita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128016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0F5FA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13716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REST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17920" y="17830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Puente HTTP/JSON entre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app y el motor BPMN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2651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Flujo de comunicación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0F5FA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JavaFX (HelloController)  →  BonitaClient (HTTP + JSON)  →  API REST de Bonita  →  Proceso ProcesMuebles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5.1 Métodos principales de BonitaClient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288036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6012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154680" y="914400"/>
            <a:ext cx="288036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7" name="Text 5"/>
          <p:cNvSpPr/>
          <p:nvPr/>
        </p:nvSpPr>
        <p:spPr>
          <a:xfrm>
            <a:off x="3154680" y="96012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Llamada REST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035040" y="914400"/>
            <a:ext cx="288036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7"/>
          <p:cNvSpPr/>
          <p:nvPr/>
        </p:nvSpPr>
        <p:spPr>
          <a:xfrm>
            <a:off x="6035040" y="960120"/>
            <a:ext cx="2880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Función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261872"/>
            <a:ext cx="2880360" cy="457200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30759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54680" y="1261872"/>
            <a:ext cx="2880360" cy="457200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0" y="130759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/loginservice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1261872"/>
            <a:ext cx="2880360" cy="457200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15" name="Text 13"/>
          <p:cNvSpPr/>
          <p:nvPr/>
        </p:nvSpPr>
        <p:spPr>
          <a:xfrm>
            <a:off x="6080760" y="130759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Inicia sesión, guarda cookies y token X-Bonita-API-Token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1719072"/>
            <a:ext cx="288036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" y="176479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buscarProcesoId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154680" y="1719072"/>
            <a:ext cx="288036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0" y="176479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/API/bpm/process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35040" y="1719072"/>
            <a:ext cx="288036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080760" y="176479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Obtiene el ID del proceso desplegado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2176272"/>
            <a:ext cx="2880360" cy="457200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23" name="Text 21"/>
          <p:cNvSpPr/>
          <p:nvPr/>
        </p:nvSpPr>
        <p:spPr>
          <a:xfrm>
            <a:off x="320040" y="222199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crearCaso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154680" y="2176272"/>
            <a:ext cx="2880360" cy="457200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0" y="222199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.../instantiation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035040" y="2176272"/>
            <a:ext cx="2880360" cy="457200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27" name="Text 25"/>
          <p:cNvSpPr/>
          <p:nvPr/>
        </p:nvSpPr>
        <p:spPr>
          <a:xfrm>
            <a:off x="6080760" y="222199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 un caso nuevo y devuelve el caseId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2633472"/>
            <a:ext cx="288036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320040" y="267919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obtenerTareaActual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154680" y="2633472"/>
            <a:ext cx="288036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0" y="267919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/API/bpm/humanTask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035040" y="2633472"/>
            <a:ext cx="288036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6080760" y="267919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Devuelve la tarea en estado ready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74320" y="3090672"/>
            <a:ext cx="2880360" cy="457200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" y="313639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asignarTarea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154680" y="3090672"/>
            <a:ext cx="2880360" cy="457200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37" name="Text 35"/>
          <p:cNvSpPr/>
          <p:nvPr/>
        </p:nvSpPr>
        <p:spPr>
          <a:xfrm>
            <a:off x="3200400" y="313639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/API/bpm/userTask/{id}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035040" y="3090672"/>
            <a:ext cx="2880360" cy="457200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39" name="Text 37"/>
          <p:cNvSpPr/>
          <p:nvPr/>
        </p:nvSpPr>
        <p:spPr>
          <a:xfrm>
            <a:off x="6080760" y="313639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Asigna la tarea a un usuario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74320" y="3547872"/>
            <a:ext cx="288036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320040" y="359359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ejecutarTarea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154680" y="3547872"/>
            <a:ext cx="288036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0" y="359359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.../execution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035040" y="3547872"/>
            <a:ext cx="288036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/>
          <p:nvPr/>
        </p:nvSpPr>
        <p:spPr>
          <a:xfrm>
            <a:off x="6080760" y="3593592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Ejecuta la tarea enviando el JSON del contrato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229600" y="475488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6. Manual de Usuario – Bizagi Modeler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abrir y simular el diagrama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Arial" pitchFamily="34" charset="0"/>
                <a:ea typeface="Arial" pitchFamily="34" charset="-122"/>
                <a:cs typeface="Arial" pitchFamily="34" charset="-120"/>
              </a:rPr>
              <a:t>1.  Instalar Bizagi Modeler y abrir el archivo .bpm del proceso ProcesMuebles</a:t>
            </a: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Arial" pitchFamily="34" charset="0"/>
                <a:ea typeface="Arial" pitchFamily="34" charset="-122"/>
                <a:cs typeface="Arial" pitchFamily="34" charset="-120"/>
              </a:rPr>
              <a:t>2.  Verificar las 5 lanes y el flujo completo (incluyendo Retrabajo → Corte).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377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Arial" pitchFamily="34" charset="0"/>
                <a:ea typeface="Arial" pitchFamily="34" charset="-122"/>
                <a:cs typeface="Arial" pitchFamily="34" charset="-120"/>
              </a:rPr>
              <a:t>3.  Comprobar que cada tarea tenga asignado su responsable (Diseñador, Operarios, Inspector).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9260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Arial" pitchFamily="34" charset="0"/>
                <a:ea typeface="Arial" pitchFamily="34" charset="-122"/>
                <a:cs typeface="Arial" pitchFamily="34" charset="-120"/>
              </a:rPr>
              <a:t>4.  Escenario Base: recursos por defecto, compuerta 80 % Sí / 20 % No → ejecutar 10 réplicas / 30 días → ~10 instancias completadas.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4747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Arial" pitchFamily="34" charset="0"/>
                <a:ea typeface="Arial" pitchFamily="34" charset="-122"/>
                <a:cs typeface="Arial" pitchFamily="34" charset="-120"/>
              </a:rPr>
              <a:t>5.  Escenario Alternativo: tiempos reducidos, más recursos (Lijado 4, Barnizado 6, Inspector 2), compuerta 90 % Sí / 10 % No → ~27 instancias completadas.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0" y="475488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Roles y recursos configurados en Bizagi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Diseñador: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651760" y="868680"/>
            <a:ext cx="6035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Elabora el diseño, define especificaciones técnicas y asegura el cumplimiento de los requerimientos del cliente.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344168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Operario de corte: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651760" y="1344168"/>
            <a:ext cx="6035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Realiza el corte de materiales según las especificaciones del diseño, con precisión y en los tiempos establecidos.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819656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Operario de ensamblaje: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51760" y="1819656"/>
            <a:ext cx="6035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las piezas cortadas para formar la estructura del producto.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295144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Operario de lijado: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651760" y="2295144"/>
            <a:ext cx="6035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Suaviza las superficies para preparar el producto antes del acabado.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770632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Operario de tapizado: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2770632"/>
            <a:ext cx="6035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Coloca recubrimientos, telas o materiales de tapizado.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324612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Operario de barnizado: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51760" y="3246120"/>
            <a:ext cx="6035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 barniz o acabados protectores, asegurando estética y durabilidad.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3721608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Inspector de calidad: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3721608"/>
            <a:ext cx="6035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 que el producto cumpla con los estándares. Decide si pasa a ventas o requiere retrabajo.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E04F9ACF-E836-43F2-97B6-BCC2AB4A5F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852" y="1659586"/>
            <a:ext cx="4010681" cy="2963302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86C72CBF-8786-4B8B-B72B-C8EEEC4E7CB6}"/>
              </a:ext>
            </a:extLst>
          </p:cNvPr>
          <p:cNvSpPr txBox="1"/>
          <p:nvPr/>
        </p:nvSpPr>
        <p:spPr>
          <a:xfrm>
            <a:off x="314852" y="274592"/>
            <a:ext cx="874206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200" dirty="0">
                <a:latin typeface="Arial" panose="020B0604020202020204" pitchFamily="34" charset="0"/>
                <a:cs typeface="Arial" panose="020B0604020202020204" pitchFamily="34" charset="0"/>
              </a:rPr>
              <a:t>Se agregan los </a:t>
            </a:r>
            <a:r>
              <a:rPr lang="es-MX" sz="1200" dirty="0" err="1">
                <a:latin typeface="Arial" panose="020B0604020202020204" pitchFamily="34" charset="0"/>
                <a:cs typeface="Arial" panose="020B0604020202020204" pitchFamily="34" charset="0"/>
              </a:rPr>
              <a:t>lanes</a:t>
            </a:r>
            <a:r>
              <a:rPr lang="es-MX" sz="1200" dirty="0">
                <a:latin typeface="Arial" panose="020B0604020202020204" pitchFamily="34" charset="0"/>
                <a:cs typeface="Arial" panose="020B0604020202020204" pitchFamily="34" charset="0"/>
              </a:rPr>
              <a:t> que son los carriles  y para modificar el nombre se le da clic a cada carril.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200" dirty="0">
                <a:latin typeface="Arial" panose="020B0604020202020204" pitchFamily="34" charset="0"/>
                <a:cs typeface="Arial" panose="020B0604020202020204" pitchFamily="34" charset="0"/>
              </a:rPr>
              <a:t>Se agrega el evento de inicio indicando el inicio de proceso.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200" dirty="0">
                <a:latin typeface="Arial" panose="020B0604020202020204" pitchFamily="34" charset="0"/>
                <a:cs typeface="Arial" panose="020B0604020202020204" pitchFamily="34" charset="0"/>
              </a:rPr>
              <a:t>Se agregan tareas para cada actividad.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200" dirty="0">
                <a:latin typeface="Arial" panose="020B0604020202020204" pitchFamily="34" charset="0"/>
                <a:cs typeface="Arial" panose="020B0604020202020204" pitchFamily="34" charset="0"/>
              </a:rPr>
              <a:t>Se conecta con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200" dirty="0">
                <a:latin typeface="Arial" panose="020B0604020202020204" pitchFamily="34" charset="0"/>
                <a:cs typeface="Arial" panose="020B0604020202020204" pitchFamily="34" charset="0"/>
              </a:rPr>
              <a:t>Se usa una compuerta para la decisión.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sz="1200" dirty="0">
                <a:latin typeface="Arial" panose="020B0604020202020204" pitchFamily="34" charset="0"/>
                <a:cs typeface="Arial" panose="020B0604020202020204" pitchFamily="34" charset="0"/>
              </a:rPr>
              <a:t>Evento de fin para terminar el proceso.</a:t>
            </a:r>
          </a:p>
          <a:p>
            <a:endParaRPr lang="es-MX" sz="12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MX" sz="12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A1321E73-48D7-4F48-BD18-426C17CA0D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719633"/>
            <a:ext cx="4095158" cy="2843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48671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94CE433-609B-4B33-9CF0-99F158B9CC7F}"/>
              </a:ext>
            </a:extLst>
          </p:cNvPr>
          <p:cNvSpPr txBox="1"/>
          <p:nvPr/>
        </p:nvSpPr>
        <p:spPr>
          <a:xfrm>
            <a:off x="391885" y="315942"/>
            <a:ext cx="742405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Para asignar tiempos al diagrama dirigirse a vista de simulación.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Posterior se observa las opciones en una </a:t>
            </a:r>
            <a:r>
              <a:rPr lang="es-MX" sz="1400" dirty="0" err="1">
                <a:latin typeface="Arial" panose="020B0604020202020204" pitchFamily="34" charset="0"/>
                <a:cs typeface="Arial" panose="020B0604020202020204" pitchFamily="34" charset="0"/>
              </a:rPr>
              <a:t>liena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 de tiempo donde se pueden crear escenario, asignar tiempos, recursos, calendarios, validar compuerta e incluso costos.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887464D-6F6B-43ED-8CF4-AB0954857A0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1684" t="2282" r="18802" b="9431"/>
          <a:stretch/>
        </p:blipFill>
        <p:spPr>
          <a:xfrm>
            <a:off x="620487" y="1568699"/>
            <a:ext cx="2632864" cy="2777421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D435E53B-A8DD-460E-8472-8A52AEE6BB8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4377"/>
          <a:stretch/>
        </p:blipFill>
        <p:spPr>
          <a:xfrm>
            <a:off x="3354278" y="1543949"/>
            <a:ext cx="2306293" cy="277742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D6E2065E-3D8B-4FB2-92D3-CCECB1F92D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9723" y="1560531"/>
            <a:ext cx="2733791" cy="273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5458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2343526-B30F-49B0-B3C5-ECF19B4591E6}"/>
              </a:ext>
            </a:extLst>
          </p:cNvPr>
          <p:cNvSpPr txBox="1"/>
          <p:nvPr/>
        </p:nvSpPr>
        <p:spPr>
          <a:xfrm>
            <a:off x="625707" y="402771"/>
            <a:ext cx="661851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Asigna los recursos en el apartado análisis de recursos.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Se configura los calendarios con los recursos asignados</a:t>
            </a:r>
            <a:r>
              <a:rPr lang="es-MX" dirty="0"/>
              <a:t>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065798D-4276-4AF0-A4F5-D8CB4AA309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707" y="1230086"/>
            <a:ext cx="2890379" cy="3358243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3FD28E9A-A27B-477F-84AA-4AD29477FA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485" y="1230085"/>
            <a:ext cx="4714130" cy="3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5371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>
            <a:extLst>
              <a:ext uri="{FF2B5EF4-FFF2-40B4-BE49-F238E27FC236}">
                <a16:creationId xmlns:a16="http://schemas.microsoft.com/office/drawing/2014/main" id="{0AF45B2E-5DA4-4570-A85F-DD55D4066C3D}"/>
              </a:ext>
            </a:extLst>
          </p:cNvPr>
          <p:cNvSpPr/>
          <p:nvPr/>
        </p:nvSpPr>
        <p:spPr>
          <a:xfrm>
            <a:off x="575534" y="344245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Resultados de simulación (30 días, 10 réplicas)</a:t>
            </a:r>
            <a:endParaRPr lang="es-MX" sz="1400" dirty="0"/>
          </a:p>
        </p:txBody>
      </p:sp>
      <p:sp>
        <p:nvSpPr>
          <p:cNvPr id="3" name="Text 12">
            <a:extLst>
              <a:ext uri="{FF2B5EF4-FFF2-40B4-BE49-F238E27FC236}">
                <a16:creationId xmlns:a16="http://schemas.microsoft.com/office/drawing/2014/main" id="{D5D83F5A-332C-46E6-852D-5E64F9AA9C6C}"/>
              </a:ext>
            </a:extLst>
          </p:cNvPr>
          <p:cNvSpPr/>
          <p:nvPr/>
        </p:nvSpPr>
        <p:spPr>
          <a:xfrm>
            <a:off x="457200" y="618565"/>
            <a:ext cx="6599816" cy="12586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dirty="0"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Al ejecutar &gt; Iniciar se observa el uso  de los recursos asignados. </a:t>
            </a:r>
          </a:p>
          <a:p>
            <a:pPr marL="0" indent="0">
              <a:buNone/>
            </a:pPr>
            <a:r>
              <a:rPr lang="es-MX" sz="1300" dirty="0"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Este programa permite administrar escenarios.</a:t>
            </a:r>
          </a:p>
          <a:p>
            <a:pPr marL="0" indent="0">
              <a:buNone/>
            </a:pPr>
            <a:r>
              <a:rPr lang="es-MX" sz="1300" dirty="0"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Se crearon dos escenarios: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300" dirty="0"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Escenario Base: 10 instancias completadas · Diseñador al 100 % de utilización</a:t>
            </a:r>
            <a:endParaRPr lang="es-MX" sz="13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300" dirty="0"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Escenario Alternativo: 27 instancias (+170 %) · nuevos cuellos en Corte (98.5 %)</a:t>
            </a:r>
            <a:endParaRPr lang="es-MX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B4557B8-CFD4-421E-BFFD-23A6D93BDC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289" y="2034538"/>
            <a:ext cx="4071770" cy="2764717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2426EFF1-AF4B-4945-90D1-F266A04421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034537"/>
            <a:ext cx="3901275" cy="2764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5529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7084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6.1 Manual de Usuario – Camunda (Token Simulation)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latin typeface="Arial" pitchFamily="34" charset="0"/>
                <a:ea typeface="Arial" pitchFamily="34" charset="-122"/>
                <a:cs typeface="Arial" pitchFamily="34" charset="-120"/>
              </a:rPr>
              <a:t>1.  Abrir el archivo .bpmn en Camunda Modeler</a:t>
            </a:r>
            <a:r>
              <a:rPr lang="en-US" sz="1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Verificar que estén presentes todos los componentes del diagrama.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latin typeface="Arial" pitchFamily="34" charset="0"/>
                <a:ea typeface="Arial" pitchFamily="34" charset="-122"/>
                <a:cs typeface="Arial" pitchFamily="34" charset="-120"/>
              </a:rPr>
              <a:t>3.  Activar el plugin de Token Simulation (debe estar instalado</a:t>
            </a:r>
            <a:r>
              <a:rPr lang="en-US" sz="1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latin typeface="Arial" pitchFamily="34" charset="0"/>
                <a:ea typeface="Arial" pitchFamily="34" charset="-122"/>
                <a:cs typeface="Arial" pitchFamily="34" charset="-120"/>
              </a:rPr>
              <a:t>4.  Avanzar el token por Diseño → Producción → Inspección</a:t>
            </a:r>
            <a:r>
              <a:rPr lang="en-US" sz="1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latin typeface="Arial" pitchFamily="34" charset="0"/>
                <a:ea typeface="Arial" pitchFamily="34" charset="-122"/>
                <a:cs typeface="Arial" pitchFamily="34" charset="-120"/>
              </a:rPr>
              <a:t>5.  En la compuerta exclusiva elegir Sí o No y observar el camino del token</a:t>
            </a:r>
            <a:r>
              <a:rPr lang="en-US" sz="1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200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latin typeface="Arial" pitchFamily="34" charset="0"/>
                <a:ea typeface="Arial" pitchFamily="34" charset="-122"/>
                <a:cs typeface="Arial" pitchFamily="34" charset="-120"/>
              </a:rPr>
              <a:t>6.  Si eliges Sí → el token avanza a Gestión → Empaque → Distribución → Fin</a:t>
            </a:r>
            <a:r>
              <a:rPr lang="en-US" sz="1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6576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latin typeface="Arial" pitchFamily="34" charset="0"/>
                <a:ea typeface="Arial" pitchFamily="34" charset="-122"/>
                <a:cs typeface="Arial" pitchFamily="34" charset="-120"/>
              </a:rPr>
              <a:t>7.  Si eliges No → el token va a Retrabajo y regresa a Corte</a:t>
            </a:r>
            <a:r>
              <a:rPr lang="en-US" sz="1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0" y="475488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8E9FC2D7-4ED5-4069-8ED4-7D01630F5A8D}"/>
              </a:ext>
            </a:extLst>
          </p:cNvPr>
          <p:cNvSpPr txBox="1"/>
          <p:nvPr/>
        </p:nvSpPr>
        <p:spPr>
          <a:xfrm>
            <a:off x="464057" y="216507"/>
            <a:ext cx="8215885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Arrastrar </a:t>
            </a:r>
            <a:r>
              <a:rPr lang="es-MX" sz="1400" dirty="0" err="1">
                <a:latin typeface="Arial" panose="020B0604020202020204" pitchFamily="34" charset="0"/>
                <a:cs typeface="Arial" panose="020B0604020202020204" pitchFamily="34" charset="0"/>
              </a:rPr>
              <a:t>lanes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 para carriles o en lado derecho de pool esta las opciones para agregar.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Seleccionar </a:t>
            </a:r>
            <a:r>
              <a:rPr lang="es-MX" sz="1400" dirty="0" err="1">
                <a:latin typeface="Arial" panose="020B0604020202020204" pitchFamily="34" charset="0"/>
                <a:cs typeface="Arial" panose="020B0604020202020204" pitchFamily="34" charset="0"/>
              </a:rPr>
              <a:t>star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 evento (evento de inicio).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Seleccionar </a:t>
            </a:r>
            <a:r>
              <a:rPr lang="es-MX" sz="1400" dirty="0" err="1">
                <a:latin typeface="Arial" panose="020B0604020202020204" pitchFamily="34" charset="0"/>
                <a:cs typeface="Arial" panose="020B0604020202020204" pitchFamily="34" charset="0"/>
              </a:rPr>
              <a:t>Task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 para las tareas.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Para conectar tareas seleccionar en la parte derecha en el cuadrado si es consecutivo o la flecha de abajo.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Seleccionar Gateway para las condición</a:t>
            </a:r>
            <a:r>
              <a:rPr lang="es-MX" dirty="0"/>
              <a:t>.</a:t>
            </a:r>
          </a:p>
          <a:p>
            <a:endParaRPr lang="es-MX" dirty="0"/>
          </a:p>
          <a:p>
            <a:r>
              <a:rPr lang="es-MX" dirty="0"/>
              <a:t> 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A9F877D3-4B17-46E2-B055-5E0C6097CA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2634" y="1944769"/>
            <a:ext cx="2581096" cy="1595185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87E0A3F3-6DB4-4F2D-9AB7-605AA05E1F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3345" y="1883568"/>
            <a:ext cx="2227925" cy="2327512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F395479D-72DD-4EA2-905A-E61859E531C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12000"/>
          <a:stretch/>
        </p:blipFill>
        <p:spPr>
          <a:xfrm>
            <a:off x="419547" y="1999477"/>
            <a:ext cx="3209810" cy="1590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1660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BC05201-1EF1-4E80-B9C4-E8015649D8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4788" y="1653469"/>
            <a:ext cx="2197212" cy="2485017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6B6EA9EB-4A26-4F2F-BA4E-F2FABFC0B2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03" y="1653469"/>
            <a:ext cx="1860487" cy="2485017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952C69A7-6D59-4645-B512-6CAC43A4BD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3727" y="1612607"/>
            <a:ext cx="2265270" cy="2217418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13B3AF0E-DCFB-43BD-AAC9-774144E8C314}"/>
              </a:ext>
            </a:extLst>
          </p:cNvPr>
          <p:cNvSpPr txBox="1"/>
          <p:nvPr/>
        </p:nvSpPr>
        <p:spPr>
          <a:xfrm>
            <a:off x="355003" y="743404"/>
            <a:ext cx="63033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400" dirty="0" err="1">
                <a:latin typeface="Arial" panose="020B0604020202020204" pitchFamily="34" charset="0"/>
                <a:cs typeface="Arial" panose="020B0604020202020204" pitchFamily="34" charset="0"/>
              </a:rPr>
              <a:t>Camunda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 permite configurar el nombre de las flechas de los componentes, documentar, agregar expresiones para trabajarlo con java. 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1A3ACA6C-01DA-48DB-A694-D502A6E1B4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6568" y="1653468"/>
            <a:ext cx="1689583" cy="2485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0238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9FF82755-F304-4A4C-864A-0612DD1407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9" y="1588295"/>
            <a:ext cx="4160659" cy="2753759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E8F5427A-8E8A-4714-8ADF-754C9F5012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342" y="1382735"/>
            <a:ext cx="3883511" cy="3009171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46C31DFD-4E57-4B0A-9C65-752B0DA7171A}"/>
              </a:ext>
            </a:extLst>
          </p:cNvPr>
          <p:cNvSpPr txBox="1"/>
          <p:nvPr/>
        </p:nvSpPr>
        <p:spPr>
          <a:xfrm>
            <a:off x="527125" y="634701"/>
            <a:ext cx="49485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Ejecución de Tokens para demostrar el proceso de decisión :</a:t>
            </a:r>
          </a:p>
        </p:txBody>
      </p:sp>
    </p:spTree>
    <p:extLst>
      <p:ext uri="{BB962C8B-B14F-4D97-AF65-F5344CB8AC3E}">
        <p14:creationId xmlns:p14="http://schemas.microsoft.com/office/powerpoint/2010/main" val="17252976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6.2 Manual de Usuario – Bonita + Aplicación JavaFX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Preparación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1. Asegurar que Bonita Runtime esté en ejecución (localhost:8080/bonita) y el proceso desplegado.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300" dirty="0"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2. Abrir el proyecto en IntelliJ IDEA (Maven, JDK 23, JavaFX 23) y ejecutar HelloApplication.</a:t>
            </a:r>
            <a:endParaRPr lang="en-US" sz="1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muestra la pantalla según la tarea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F0F5FA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23774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Diseñar producto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265176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Campos Nombre y Descripción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23317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F0F5FA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23774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Inspección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00600" y="265176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Casilla “Cumple con el diseño”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F0F5FA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15468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Retrabajo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360" y="342900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Botón “Retrabajo terminado”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31089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F0F5FA"/>
          </a:solidFill>
          <a:ln/>
        </p:spPr>
      </p:sp>
      <p:sp>
        <p:nvSpPr>
          <p:cNvPr id="17" name="Text 15"/>
          <p:cNvSpPr/>
          <p:nvPr/>
        </p:nvSpPr>
        <p:spPr>
          <a:xfrm>
            <a:off x="4800600" y="315468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Resto de tareas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00600" y="342900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Casilla de confirmación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0" y="475488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F979B277-05BB-442C-AB09-9025455312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2918" y="1979407"/>
            <a:ext cx="4793954" cy="278217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593E7065-983B-42E0-9ADE-F43A4D993E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701" y="1979407"/>
            <a:ext cx="1857705" cy="2782172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2EC79AEB-B5C2-4259-A3DF-0925BAA79966}"/>
              </a:ext>
            </a:extLst>
          </p:cNvPr>
          <p:cNvSpPr txBox="1"/>
          <p:nvPr/>
        </p:nvSpPr>
        <p:spPr>
          <a:xfrm>
            <a:off x="398031" y="236668"/>
            <a:ext cx="793914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Seleccionar y arrastrar los componentes de la paleta hacia el carril correspondiente.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Flow: Para conectar tareas.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400" dirty="0" err="1">
                <a:latin typeface="Arial" panose="020B0604020202020204" pitchFamily="34" charset="0"/>
                <a:cs typeface="Arial" panose="020B0604020202020204" pitchFamily="34" charset="0"/>
              </a:rPr>
              <a:t>Task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: Para colocar una tarea.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400" dirty="0" err="1">
                <a:latin typeface="Arial" panose="020B0604020202020204" pitchFamily="34" charset="0"/>
                <a:cs typeface="Arial" panose="020B0604020202020204" pitchFamily="34" charset="0"/>
              </a:rPr>
              <a:t>Start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dirty="0" err="1">
                <a:latin typeface="Arial" panose="020B0604020202020204" pitchFamily="34" charset="0"/>
                <a:cs typeface="Arial" panose="020B0604020202020204" pitchFamily="34" charset="0"/>
              </a:rPr>
              <a:t>events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: Para eventos  de inicio.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Gateway: Para </a:t>
            </a:r>
            <a:r>
              <a:rPr lang="es-MX" sz="1400" dirty="0" err="1">
                <a:latin typeface="Arial" panose="020B0604020202020204" pitchFamily="34" charset="0"/>
                <a:cs typeface="Arial" panose="020B0604020202020204" pitchFamily="34" charset="0"/>
              </a:rPr>
              <a:t>condiones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400" dirty="0" err="1">
                <a:latin typeface="Arial" panose="020B0604020202020204" pitchFamily="34" charset="0"/>
                <a:cs typeface="Arial" panose="020B0604020202020204" pitchFamily="34" charset="0"/>
              </a:rPr>
              <a:t>Swimlanes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: Para agregar carriles</a:t>
            </a:r>
            <a:r>
              <a:rPr lang="es-MX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606091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Contratos configurados en Bonita</a:t>
            </a:r>
            <a:endParaRPr lang="es-MX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400" dirty="0">
                <a:latin typeface="Arial" pitchFamily="34" charset="0"/>
                <a:ea typeface="Arial" pitchFamily="34" charset="-122"/>
                <a:cs typeface="Arial" pitchFamily="34" charset="-120"/>
              </a:rPr>
              <a:t>Los contratos son los datos que cada tarea exige para poder ejecutarse. Sin el contrato correcto la tarea no avanza</a:t>
            </a: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2560320" cy="3657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173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91840" y="1371600"/>
            <a:ext cx="2560320" cy="3657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8" name="Text 6"/>
          <p:cNvSpPr/>
          <p:nvPr/>
        </p:nvSpPr>
        <p:spPr>
          <a:xfrm>
            <a:off x="3291840" y="14173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852160" y="1371600"/>
            <a:ext cx="2560320" cy="3657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0" name="Text 8"/>
          <p:cNvSpPr/>
          <p:nvPr/>
        </p:nvSpPr>
        <p:spPr>
          <a:xfrm>
            <a:off x="5852160" y="14173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1737360"/>
            <a:ext cx="2560320" cy="411480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783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Diseñar producto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291840" y="1737360"/>
            <a:ext cx="2560320" cy="411480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14" name="Text 12"/>
          <p:cNvSpPr/>
          <p:nvPr/>
        </p:nvSpPr>
        <p:spPr>
          <a:xfrm>
            <a:off x="3291840" y="1783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nombre, descripcion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852160" y="1737360"/>
            <a:ext cx="2560320" cy="411480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16" name="Text 14"/>
          <p:cNvSpPr/>
          <p:nvPr/>
        </p:nvSpPr>
        <p:spPr>
          <a:xfrm>
            <a:off x="5852160" y="1783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2148840"/>
            <a:ext cx="25603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1945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Inspección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2148840"/>
            <a:ext cx="25603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91840" y="21945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resultadoInspeccion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852160" y="2148840"/>
            <a:ext cx="25603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852160" y="21945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Boolean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31520" y="2560320"/>
            <a:ext cx="2560320" cy="411480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26060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Retrabajo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560320"/>
            <a:ext cx="2560320" cy="411480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26" name="Text 24"/>
          <p:cNvSpPr/>
          <p:nvPr/>
        </p:nvSpPr>
        <p:spPr>
          <a:xfrm>
            <a:off x="3291840" y="26060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Ninguno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852160" y="2560320"/>
            <a:ext cx="2560320" cy="411480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28" name="Text 26"/>
          <p:cNvSpPr/>
          <p:nvPr/>
        </p:nvSpPr>
        <p:spPr>
          <a:xfrm>
            <a:off x="5852160" y="26060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31520" y="2971800"/>
            <a:ext cx="25603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30175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Resto de tareas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291840" y="2971800"/>
            <a:ext cx="25603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91840" y="30175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confirmado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852160" y="2971800"/>
            <a:ext cx="25603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852160" y="30175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Boolean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57200" y="3657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true en resultadoInspeccion significa “Cumple” → avanza a Gestión de pedidos.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lang="en-US" sz="1400" dirty="0">
                <a:latin typeface="Arial" panose="020B0604020202020204" pitchFamily="34" charset="0"/>
                <a:ea typeface="Arial" pitchFamily="34" charset="-122"/>
                <a:cs typeface="Arial" panose="020B0604020202020204" pitchFamily="34" charset="0"/>
              </a:rPr>
              <a:t>false significa “No cumple” → genera la tarea Retrabajo y regresa a Corte.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8229600" y="475488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CFD7405-CD2B-4135-AF7C-1F734E06B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1990" y="1452279"/>
            <a:ext cx="2624866" cy="2751589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71A9975C-FAB0-42D3-A4C8-F894D7FD52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928" y="1452281"/>
            <a:ext cx="2936837" cy="2820427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83B3696F-9D03-4F0A-9DE2-EEEE1C016424}"/>
              </a:ext>
            </a:extLst>
          </p:cNvPr>
          <p:cNvSpPr txBox="1"/>
          <p:nvPr/>
        </p:nvSpPr>
        <p:spPr>
          <a:xfrm>
            <a:off x="322729" y="740469"/>
            <a:ext cx="53465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Demostración de asignación  de actores, formulario y contrato:</a:t>
            </a:r>
            <a:endParaRPr lang="es-MX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B569E19A-F81A-497F-AFDC-48FE1B8649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533" y="1417861"/>
            <a:ext cx="2835008" cy="2820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8877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836A67E3-86EC-43CD-82CC-C916921E3C3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335"/>
          <a:stretch/>
        </p:blipFill>
        <p:spPr>
          <a:xfrm>
            <a:off x="871369" y="1515172"/>
            <a:ext cx="6325496" cy="2947540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A364059B-7169-446F-8948-EB6FA8DE7E68}"/>
              </a:ext>
            </a:extLst>
          </p:cNvPr>
          <p:cNvSpPr txBox="1"/>
          <p:nvPr/>
        </p:nvSpPr>
        <p:spPr>
          <a:xfrm>
            <a:off x="871369" y="763503"/>
            <a:ext cx="39695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Formulario utilizado para la tarea de inspección:</a:t>
            </a:r>
          </a:p>
        </p:txBody>
      </p:sp>
    </p:spTree>
    <p:extLst>
      <p:ext uri="{BB962C8B-B14F-4D97-AF65-F5344CB8AC3E}">
        <p14:creationId xmlns:p14="http://schemas.microsoft.com/office/powerpoint/2010/main" val="35231518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7. Flujo completo de la aplicación JavaFX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Arial" pitchFamily="34" charset="0"/>
                <a:ea typeface="Arial" pitchFamily="34" charset="-122"/>
                <a:cs typeface="Arial" pitchFamily="34" charset="-120"/>
              </a:rPr>
              <a:t>1.  Pulsar “Iniciar proceso”: la app hace login, busca ProcesMuebles y crea el caso.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1329107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Arial" pitchFamily="34" charset="0"/>
                <a:ea typeface="Arial" pitchFamily="34" charset="-122"/>
                <a:cs typeface="Arial" pitchFamily="34" charset="-120"/>
              </a:rPr>
              <a:t>2.  Espera a que Bonita genere la primera tarea (consulta hasta 10 veces).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746504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Arial" pitchFamily="34" charset="0"/>
                <a:ea typeface="Arial" pitchFamily="34" charset="-122"/>
                <a:cs typeface="Arial" pitchFamily="34" charset="-120"/>
              </a:rPr>
              <a:t>3.  Muestra “Diseñar producto”. Llenar Nombre y Descripción → Enviar.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185416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r>
              <a:rPr lang="en-US" sz="1300" dirty="0">
                <a:latin typeface="Arial" pitchFamily="34" charset="0"/>
                <a:ea typeface="Arial" pitchFamily="34" charset="-122"/>
                <a:cs typeface="Arial" pitchFamily="34" charset="-120"/>
              </a:rPr>
              <a:t>.  Confirmar las tareas de Producción (Corte, Ensamblaje, Lijado, Tapizado, Barnizado).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2624328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Arial" pitchFamily="34" charset="0"/>
                <a:ea typeface="Arial" pitchFamily="34" charset="-122"/>
                <a:cs typeface="Arial" pitchFamily="34" charset="-120"/>
              </a:rPr>
              <a:t>5.  En Inspección: marcar o desmarcar “Cumple con el diseño” y enviar.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306324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Arial" pitchFamily="34" charset="0"/>
                <a:ea typeface="Arial" pitchFamily="34" charset="-122"/>
                <a:cs typeface="Arial" pitchFamily="34" charset="-120"/>
              </a:rPr>
              <a:t>6.  Si cumple → Gestión de pedidos → Empaque → Distribución y entrega → Fin</a:t>
            </a: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3502152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Arial" pitchFamily="34" charset="0"/>
                <a:ea typeface="Arial" pitchFamily="34" charset="-122"/>
                <a:cs typeface="Arial" pitchFamily="34" charset="-120"/>
              </a:rPr>
              <a:t>7.  Si no cumple → aparece Retrabajo. Confirmar “Retrabajo terminado” → regresa a Corte</a:t>
            </a: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3941064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Arial" pitchFamily="34" charset="0"/>
                <a:ea typeface="Arial" pitchFamily="34" charset="-122"/>
                <a:cs typeface="Arial" pitchFamily="34" charset="-120"/>
              </a:rPr>
              <a:t>8.  Cuando no queden tareas, la app muestra “El caso terminó”.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0" y="475488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FEF7D1F7-3AED-4EAC-8FDE-5DC64E5CEC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22" y="1463040"/>
            <a:ext cx="4055633" cy="2961113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8D278F21-3960-477F-B3A3-42C53491A4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1393" y="1463040"/>
            <a:ext cx="4260028" cy="2877692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A65AAF7-D48A-46F2-B411-C8B9F1D082FD}"/>
              </a:ext>
            </a:extLst>
          </p:cNvPr>
          <p:cNvSpPr txBox="1"/>
          <p:nvPr/>
        </p:nvSpPr>
        <p:spPr>
          <a:xfrm>
            <a:off x="172122" y="809468"/>
            <a:ext cx="25656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Demostración del flujo:</a:t>
            </a:r>
          </a:p>
        </p:txBody>
      </p:sp>
    </p:spTree>
    <p:extLst>
      <p:ext uri="{BB962C8B-B14F-4D97-AF65-F5344CB8AC3E}">
        <p14:creationId xmlns:p14="http://schemas.microsoft.com/office/powerpoint/2010/main" val="23908317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7.1 Evidencia de ejecución – Distribución y entrega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935915"/>
            <a:ext cx="7680960" cy="3383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0" y="475488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7085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8. Cuadro comparativo técnico</a:t>
            </a:r>
            <a:endParaRPr lang="es-MX" sz="2400" dirty="0"/>
          </a:p>
        </p:txBody>
      </p:sp>
      <p:sp>
        <p:nvSpPr>
          <p:cNvPr id="4" name="Shape 2"/>
          <p:cNvSpPr/>
          <p:nvPr/>
        </p:nvSpPr>
        <p:spPr>
          <a:xfrm>
            <a:off x="182880" y="868680"/>
            <a:ext cx="219456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5" name="Text 3"/>
          <p:cNvSpPr/>
          <p:nvPr/>
        </p:nvSpPr>
        <p:spPr>
          <a:xfrm>
            <a:off x="182880" y="914400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Aspecto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377440" y="868680"/>
            <a:ext cx="219456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7" name="Text 5"/>
          <p:cNvSpPr/>
          <p:nvPr/>
        </p:nvSpPr>
        <p:spPr>
          <a:xfrm>
            <a:off x="2377440" y="914400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Bizagi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868680"/>
            <a:ext cx="219456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914400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Camunda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766560" y="868680"/>
            <a:ext cx="219456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1" name="Text 9"/>
          <p:cNvSpPr/>
          <p:nvPr/>
        </p:nvSpPr>
        <p:spPr>
          <a:xfrm>
            <a:off x="6766560" y="914400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Bonita + JavaFX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82880" y="1216152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13" name="Text 11"/>
          <p:cNvSpPr/>
          <p:nvPr/>
        </p:nvSpPr>
        <p:spPr>
          <a:xfrm>
            <a:off x="228600" y="126187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Propósito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377440" y="1216152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15" name="Text 13"/>
          <p:cNvSpPr/>
          <p:nvPr/>
        </p:nvSpPr>
        <p:spPr>
          <a:xfrm>
            <a:off x="2423160" y="126187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Simulación (2 escenarios)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0" y="1216152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126187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Ejecución + Token Simulation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66560" y="1216152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19" name="Text 17"/>
          <p:cNvSpPr/>
          <p:nvPr/>
        </p:nvSpPr>
        <p:spPr>
          <a:xfrm>
            <a:off x="6812280" y="126187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Contratos, actores e interfaz propia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82880" y="1655064"/>
            <a:ext cx="21945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228600" y="1700784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377440" y="1655064"/>
            <a:ext cx="21945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2423160" y="1700784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Diagrama + recursos + roles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0" y="1655064"/>
            <a:ext cx="21945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1700784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Diagrama + plugin tokens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766560" y="1655064"/>
            <a:ext cx="21945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6812280" y="1700784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Diagrama + contratos + actores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82880" y="2093976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" y="2139696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Config. clave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377440" y="2093976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31" name="Text 29"/>
          <p:cNvSpPr/>
          <p:nvPr/>
        </p:nvSpPr>
        <p:spPr>
          <a:xfrm>
            <a:off x="2423160" y="2139696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Recursos, tiempos, calendarios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0" y="2093976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33" name="Text 31"/>
          <p:cNvSpPr/>
          <p:nvPr/>
        </p:nvSpPr>
        <p:spPr>
          <a:xfrm>
            <a:off x="4617720" y="2139696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Plugin Token Simulation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766560" y="2093976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35" name="Text 33"/>
          <p:cNvSpPr/>
          <p:nvPr/>
        </p:nvSpPr>
        <p:spPr>
          <a:xfrm>
            <a:off x="6812280" y="2139696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Formulario, contrato, XOR, actores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82880" y="2532888"/>
            <a:ext cx="21945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228600" y="257860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Integración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377440" y="2532888"/>
            <a:ext cx="21945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2423160" y="257860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nativa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72000" y="2532888"/>
            <a:ext cx="21945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4617720" y="257860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Nativa (Java / API)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766560" y="2532888"/>
            <a:ext cx="21945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6812280" y="257860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REST + app JavaFX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82880" y="2971800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45" name="Text 43"/>
          <p:cNvSpPr/>
          <p:nvPr/>
        </p:nvSpPr>
        <p:spPr>
          <a:xfrm>
            <a:off x="228600" y="30175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Interfaz UI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377440" y="2971800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47" name="Text 45"/>
          <p:cNvSpPr/>
          <p:nvPr/>
        </p:nvSpPr>
        <p:spPr>
          <a:xfrm>
            <a:off x="2423160" y="30175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572000" y="2971800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49" name="Text 47"/>
          <p:cNvSpPr/>
          <p:nvPr/>
        </p:nvSpPr>
        <p:spPr>
          <a:xfrm>
            <a:off x="4617720" y="30175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Tasklist / Cockpit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766560" y="2971800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51" name="Text 49"/>
          <p:cNvSpPr/>
          <p:nvPr/>
        </p:nvSpPr>
        <p:spPr>
          <a:xfrm>
            <a:off x="6812280" y="30175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+ app JavaFX propia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182880" y="3410712"/>
            <a:ext cx="21945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/>
          <p:nvPr/>
        </p:nvSpPr>
        <p:spPr>
          <a:xfrm>
            <a:off x="228600" y="34564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flujo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2377440" y="3410712"/>
            <a:ext cx="21945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2423160" y="34564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Probabilidades en simulación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0" y="3410712"/>
            <a:ext cx="21945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/>
          <p:nvPr/>
        </p:nvSpPr>
        <p:spPr>
          <a:xfrm>
            <a:off x="4617720" y="34564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Elección manual del token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766560" y="3410712"/>
            <a:ext cx="21945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9" name="Text 57"/>
          <p:cNvSpPr/>
          <p:nvPr/>
        </p:nvSpPr>
        <p:spPr>
          <a:xfrm>
            <a:off x="6812280" y="34564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Boolean desde JavaFX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82880" y="3849624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61" name="Text 59"/>
          <p:cNvSpPr/>
          <p:nvPr/>
        </p:nvSpPr>
        <p:spPr>
          <a:xfrm>
            <a:off x="228600" y="3895344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proyecto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377440" y="3849624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63" name="Text 61"/>
          <p:cNvSpPr/>
          <p:nvPr/>
        </p:nvSpPr>
        <p:spPr>
          <a:xfrm>
            <a:off x="2423160" y="3895344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Validación y simulación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4572000" y="3849624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65" name="Text 63"/>
          <p:cNvSpPr/>
          <p:nvPr/>
        </p:nvSpPr>
        <p:spPr>
          <a:xfrm>
            <a:off x="4617720" y="3895344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Depuración de tokens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766560" y="3849624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67" name="Text 65"/>
          <p:cNvSpPr/>
          <p:nvPr/>
        </p:nvSpPr>
        <p:spPr>
          <a:xfrm>
            <a:off x="6812280" y="3895344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Ejecución end-to-end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8229600" y="475488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9. Cuadro comparativo de uso</a:t>
            </a:r>
            <a:endParaRPr lang="es-MX" sz="2400" dirty="0"/>
          </a:p>
        </p:txBody>
      </p:sp>
      <p:sp>
        <p:nvSpPr>
          <p:cNvPr id="4" name="Shape 2"/>
          <p:cNvSpPr/>
          <p:nvPr/>
        </p:nvSpPr>
        <p:spPr>
          <a:xfrm>
            <a:off x="182880" y="868680"/>
            <a:ext cx="219456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5" name="Text 3"/>
          <p:cNvSpPr/>
          <p:nvPr/>
        </p:nvSpPr>
        <p:spPr>
          <a:xfrm>
            <a:off x="182880" y="914400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Acción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377440" y="868680"/>
            <a:ext cx="219456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7" name="Text 5"/>
          <p:cNvSpPr/>
          <p:nvPr/>
        </p:nvSpPr>
        <p:spPr>
          <a:xfrm>
            <a:off x="2377440" y="914400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Bizagi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868680"/>
            <a:ext cx="219456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914400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Camunda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766560" y="868680"/>
            <a:ext cx="219456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1" name="Text 9"/>
          <p:cNvSpPr/>
          <p:nvPr/>
        </p:nvSpPr>
        <p:spPr>
          <a:xfrm>
            <a:off x="6766560" y="914400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Bonita + JavaFX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82880" y="1216152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13" name="Text 11"/>
          <p:cNvSpPr/>
          <p:nvPr/>
        </p:nvSpPr>
        <p:spPr>
          <a:xfrm>
            <a:off x="228600" y="126187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 / Ejecutar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377440" y="1216152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15" name="Text 13"/>
          <p:cNvSpPr/>
          <p:nvPr/>
        </p:nvSpPr>
        <p:spPr>
          <a:xfrm>
            <a:off x="2423160" y="126187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Archivo .bpm + simulación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0" y="1216152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126187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Modeler + Token Simulation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66560" y="1216152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19" name="Text 17"/>
          <p:cNvSpPr/>
          <p:nvPr/>
        </p:nvSpPr>
        <p:spPr>
          <a:xfrm>
            <a:off x="6812280" y="126187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+ app JavaFX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82880" y="1655064"/>
            <a:ext cx="21945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228600" y="1700784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Probar Cumple/No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377440" y="1655064"/>
            <a:ext cx="21945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2423160" y="1700784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instancias (80/20 o 90/10)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0" y="1655064"/>
            <a:ext cx="21945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1700784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Elegir salida del token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766560" y="1655064"/>
            <a:ext cx="21945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6812280" y="1700784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Casilla en app → contrato Boolean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82880" y="2093976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" y="2139696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retrabajo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377440" y="2093976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31" name="Text 29"/>
          <p:cNvSpPr/>
          <p:nvPr/>
        </p:nvSpPr>
        <p:spPr>
          <a:xfrm>
            <a:off x="2423160" y="2139696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Reporte de simulación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0" y="2093976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33" name="Text 31"/>
          <p:cNvSpPr/>
          <p:nvPr/>
        </p:nvSpPr>
        <p:spPr>
          <a:xfrm>
            <a:off x="4617720" y="2139696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Camino del token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766560" y="2093976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35" name="Text 33"/>
          <p:cNvSpPr/>
          <p:nvPr/>
        </p:nvSpPr>
        <p:spPr>
          <a:xfrm>
            <a:off x="6812280" y="2139696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Tarea Retrabajo aparece y regresa a Corte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82880" y="2532888"/>
            <a:ext cx="21945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228600" y="257860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Interfaz usuario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377440" y="2532888"/>
            <a:ext cx="21945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2423160" y="257860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aplica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72000" y="2532888"/>
            <a:ext cx="21945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4617720" y="257860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Tasklist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766560" y="2532888"/>
            <a:ext cx="21945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6812280" y="257860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JavaFX propia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82880" y="2971800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45" name="Text 43"/>
          <p:cNvSpPr/>
          <p:nvPr/>
        </p:nvSpPr>
        <p:spPr>
          <a:xfrm>
            <a:off x="228600" y="30175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enviados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377440" y="2971800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47" name="Text 45"/>
          <p:cNvSpPr/>
          <p:nvPr/>
        </p:nvSpPr>
        <p:spPr>
          <a:xfrm>
            <a:off x="2423160" y="30175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Config. de escenario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572000" y="2993315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49" name="Text 47"/>
          <p:cNvSpPr/>
          <p:nvPr/>
        </p:nvSpPr>
        <p:spPr>
          <a:xfrm>
            <a:off x="4617720" y="30175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766560" y="2971800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51" name="Text 49"/>
          <p:cNvSpPr/>
          <p:nvPr/>
        </p:nvSpPr>
        <p:spPr>
          <a:xfrm>
            <a:off x="6812280" y="30175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del contrato según la tarea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182880" y="3410712"/>
            <a:ext cx="21945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/>
          <p:nvPr/>
        </p:nvSpPr>
        <p:spPr>
          <a:xfrm>
            <a:off x="228600" y="34564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de usuario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2377440" y="3410712"/>
            <a:ext cx="21945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2423160" y="34564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Analista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0" y="3410712"/>
            <a:ext cx="21945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/>
          <p:nvPr/>
        </p:nvSpPr>
        <p:spPr>
          <a:xfrm>
            <a:off x="4617720" y="34564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Desarrollador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766560" y="3410712"/>
            <a:ext cx="21945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9" name="Text 57"/>
          <p:cNvSpPr/>
          <p:nvPr/>
        </p:nvSpPr>
        <p:spPr>
          <a:xfrm>
            <a:off x="6812280" y="34564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Usuario final + desarrollador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82880" y="3849624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61" name="Text 59"/>
          <p:cNvSpPr/>
          <p:nvPr/>
        </p:nvSpPr>
        <p:spPr>
          <a:xfrm>
            <a:off x="228600" y="3895344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principal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377440" y="3849624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63" name="Text 61"/>
          <p:cNvSpPr/>
          <p:nvPr/>
        </p:nvSpPr>
        <p:spPr>
          <a:xfrm>
            <a:off x="2423160" y="3895344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Throughput y cuellos de botella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4572000" y="3849624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65" name="Text 63"/>
          <p:cNvSpPr/>
          <p:nvPr/>
        </p:nvSpPr>
        <p:spPr>
          <a:xfrm>
            <a:off x="4617720" y="3895344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Depuración del flujo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766560" y="3849624"/>
            <a:ext cx="2194560" cy="438912"/>
          </a:xfrm>
          <a:prstGeom prst="rect">
            <a:avLst/>
          </a:prstGeom>
          <a:solidFill>
            <a:srgbClr val="F0F5FA"/>
          </a:solidFill>
          <a:ln/>
        </p:spPr>
      </p:sp>
      <p:sp>
        <p:nvSpPr>
          <p:cNvPr id="67" name="Text 65"/>
          <p:cNvSpPr/>
          <p:nvPr/>
        </p:nvSpPr>
        <p:spPr>
          <a:xfrm>
            <a:off x="6812280" y="3895344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Ejecución end-to-end controlada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8229600" y="475488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10. Conclusiones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1005840"/>
          </a:xfrm>
          <a:prstGeom prst="roundRect">
            <a:avLst>
              <a:gd name="adj" fmla="val 7273"/>
            </a:avLst>
          </a:prstGeom>
          <a:solidFill>
            <a:srgbClr val="F0F5F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Bizagi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Permite simular tiempos, calendarios, recursos, costos y escenarios, muestra recursos en uso durante la ejecución y permite exportación de resultados, se configura en la vista de visualización y los componentes se .</a:t>
            </a:r>
            <a:endParaRPr lang="es-MX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2011680"/>
            <a:ext cx="8412480" cy="1005840"/>
          </a:xfrm>
          <a:prstGeom prst="roundRect">
            <a:avLst>
              <a:gd name="adj" fmla="val 7273"/>
            </a:avLst>
          </a:prstGeom>
          <a:solidFill>
            <a:srgbClr val="F0F5F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103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Camunda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23774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4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ejecución es mediante plugin de Token Simulación que depura paso a paso el flujo y confirma el comportamiento de la compuerta exclusiva, es mas fácil de integrar los componentes por que están a lado derecho y se configura en el panel derecho.</a:t>
            </a:r>
            <a:endParaRPr lang="es-MX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3108960"/>
            <a:ext cx="8412480" cy="1188720"/>
          </a:xfrm>
          <a:prstGeom prst="roundRect">
            <a:avLst>
              <a:gd name="adj" fmla="val 7273"/>
            </a:avLst>
          </a:prstGeom>
          <a:solidFill>
            <a:srgbClr val="F0F5FA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2004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Bonita + JavaFX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352044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MX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bonita Studio permite  arrastrar los elementos  como en </a:t>
            </a:r>
            <a:r>
              <a:rPr lang="es-MX" sz="1300" dirty="0" err="1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bizagi</a:t>
            </a:r>
            <a:r>
              <a:rPr lang="es-MX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pero a diferencia este programa permite asignar contratos tipados, actores y una aplicación de escritorio controlan el proceso de extremo a extremo, incluyendo el bucle de retrabajo, mediante la API REST, usar script para las variables creadas.</a:t>
            </a:r>
            <a:endParaRPr lang="es-MX" sz="1300" dirty="0"/>
          </a:p>
        </p:txBody>
      </p:sp>
      <p:sp>
        <p:nvSpPr>
          <p:cNvPr id="14" name="Text 12"/>
          <p:cNvSpPr/>
          <p:nvPr/>
        </p:nvSpPr>
        <p:spPr>
          <a:xfrm>
            <a:off x="8229600" y="475488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MX" sz="2400" b="1" dirty="0">
                <a:latin typeface="Arial" pitchFamily="34" charset="0"/>
                <a:cs typeface="Arial" pitchFamily="34" charset="-120"/>
              </a:rPr>
              <a:t>11.Fuentes de información</a:t>
            </a:r>
            <a:endParaRPr lang="es-MX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latin typeface="Arial" pitchFamily="34" charset="0"/>
                <a:ea typeface="Arial" pitchFamily="34" charset="-122"/>
                <a:cs typeface="Arial" pitchFamily="34" charset="-120"/>
              </a:rPr>
              <a:t>Bizagi. (n.d.). Bizagi Modeler documentation. https://www.bizagi.com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545605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latin typeface="Arial" pitchFamily="34" charset="0"/>
                <a:ea typeface="Arial" pitchFamily="34" charset="-122"/>
                <a:cs typeface="Arial" pitchFamily="34" charset="-120"/>
              </a:rPr>
              <a:t>Bonitasoft. (n.d.). Bonita documentation. https://documentation.bonitasoft.com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1929653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latin typeface="Arial" pitchFamily="34" charset="0"/>
                <a:ea typeface="Arial" pitchFamily="34" charset="-122"/>
                <a:cs typeface="Arial" pitchFamily="34" charset="-120"/>
              </a:rPr>
              <a:t>Camunda. (n.d.). Camunda Platform documentation. https://docs.camunda.org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2425849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latin typeface="Arial" pitchFamily="34" charset="0"/>
                <a:ea typeface="Arial" pitchFamily="34" charset="-122"/>
                <a:cs typeface="Arial" pitchFamily="34" charset="-120"/>
              </a:rPr>
              <a:t>Object Management Group. (2011). BPMN Version 2.0. https://www.omg.org/spec/BPMN/2.0/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2930652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latin typeface="Arial" pitchFamily="34" charset="0"/>
                <a:ea typeface="Arial" pitchFamily="34" charset="-122"/>
                <a:cs typeface="Arial" pitchFamily="34" charset="-120"/>
              </a:rPr>
              <a:t>YouTube. (n.d.). [Video tutorial BPMN / simulación]. https://youtu.be/C6Li_4FPmZA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435455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latin typeface="Arial" pitchFamily="34" charset="0"/>
                <a:ea typeface="Arial" pitchFamily="34" charset="-122"/>
                <a:cs typeface="Arial" pitchFamily="34" charset="-120"/>
              </a:rPr>
              <a:t>YouTube. (n.d.). [Video tutorial integración]. https://youtu.be/0Vshj1pFqss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475488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33D1702A-6CBA-4BA9-9281-A127A32FF887}"/>
              </a:ext>
            </a:extLst>
          </p:cNvPr>
          <p:cNvSpPr txBox="1"/>
          <p:nvPr/>
        </p:nvSpPr>
        <p:spPr>
          <a:xfrm>
            <a:off x="1274781" y="602429"/>
            <a:ext cx="65944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400" b="1" dirty="0">
                <a:latin typeface="Arial" panose="020B0604020202020204" pitchFamily="34" charset="0"/>
                <a:cs typeface="Arial" panose="020B0604020202020204" pitchFamily="34" charset="0"/>
              </a:rPr>
              <a:t>Anexo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E462DE6-4A2D-4130-924F-941D92361497}"/>
              </a:ext>
            </a:extLst>
          </p:cNvPr>
          <p:cNvSpPr txBox="1"/>
          <p:nvPr/>
        </p:nvSpPr>
        <p:spPr>
          <a:xfrm>
            <a:off x="1355463" y="1569266"/>
            <a:ext cx="733671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https://github.com/alondraS128/SimTema-5.git</a:t>
            </a:r>
            <a:endParaRPr lang="es-MX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s-MX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s-MX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1398803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</TotalTime>
  <Words>2149</Words>
  <Application>Microsoft Office PowerPoint</Application>
  <PresentationFormat>Presentación en pantalla (16:9)</PresentationFormat>
  <Paragraphs>312</Paragraphs>
  <Slides>31</Slides>
  <Notes>19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Manuales Técnicos y de Usuario – ProcesMuebles</dc:title>
  <dc:subject>Bizagi · Camunda · Bonita · JavaFX</dc:subject>
  <dc:creator>ProcesMuebles – TecNM</dc:creator>
  <cp:lastModifiedBy>monicasantizovalle@gmail.com</cp:lastModifiedBy>
  <cp:revision>28</cp:revision>
  <dcterms:created xsi:type="dcterms:W3CDTF">2026-10-03T01:11:34Z</dcterms:created>
  <dcterms:modified xsi:type="dcterms:W3CDTF">2026-10-03T07:01:04Z</dcterms:modified>
</cp:coreProperties>
</file>